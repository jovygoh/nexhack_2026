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F14"/>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371600"/>
            <a:ext cx="8229600" cy="4114800"/>
          </a:xfrm>
          <a:prstGeom prst="rect">
            <a:avLst/>
          </a:prstGeom>
          <a:noFill/>
        </p:spPr>
        <p:txBody>
          <a:bodyPr wrap="square">
            <a:spAutoFit/>
          </a:bodyPr>
          <a:lstStyle/>
          <a:p>
            <a:pPr algn="ctr"/>
            <a:r>
              <a:rPr sz="1300" b="1" i="0">
                <a:solidFill>
                  <a:srgbClr val="4F8EF7"/>
                </a:solidFill>
                <a:latin typeface="Arial"/>
              </a:rPr>
              <a:t>NEXHACK 2026  |  TRACK: ENTERPRISE OPERATIONS
</a:t>
            </a:r>
          </a:p>
          <a:p>
            <a:pPr algn="ctr"/>
            <a:r>
              <a:rPr sz="5400" b="1" i="0">
                <a:solidFill>
                  <a:srgbClr val="4F8EF7"/>
                </a:solidFill>
                <a:latin typeface="Arial"/>
              </a:rPr>
              <a:t>ContractSense</a:t>
            </a:r>
          </a:p>
          <a:p>
            <a:pPr algn="ctr"/>
            <a:r>
              <a:rPr sz="2000" b="0" i="0">
                <a:solidFill>
                  <a:srgbClr val="8B90A0"/>
                </a:solidFill>
                <a:latin typeface="Arial"/>
              </a:rPr>
              <a:t>
AI-Powered Contract Compliance Scanner for Malaysian SMEs</a:t>
            </a:r>
          </a:p>
          <a:p>
            <a:pPr algn="ctr"/>
            <a:r>
              <a:rPr sz="1200" b="0" i="1">
                <a:solidFill>
                  <a:srgbClr val="8B90A0"/>
                </a:solidFill>
                <a:latin typeface="Arial"/>
              </a:rPr>
              <a:t>
By: Jovygoh  ·  Focus: Employment Act, PDPA, Corporate Rules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F14"/>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731520"/>
          </a:xfrm>
          <a:prstGeom prst="rect">
            <a:avLst/>
          </a:prstGeom>
          <a:noFill/>
        </p:spPr>
        <p:txBody>
          <a:bodyPr wrap="none">
            <a:spAutoFit/>
          </a:bodyPr>
          <a:lstStyle/>
          <a:p>
            <a:r>
              <a:rPr sz="2800" b="1" i="0">
                <a:solidFill>
                  <a:srgbClr val="4F8EF7"/>
                </a:solidFill>
                <a:latin typeface="Arial"/>
              </a:rPr>
              <a:t>The Compliance Bottleneck</a:t>
            </a:r>
          </a:p>
        </p:txBody>
      </p:sp>
      <p:sp>
        <p:nvSpPr>
          <p:cNvPr id="4" name="TextBox 3"/>
          <p:cNvSpPr txBox="1"/>
          <p:nvPr/>
        </p:nvSpPr>
        <p:spPr>
          <a:xfrm>
            <a:off x="457200" y="1371600"/>
            <a:ext cx="2560320" cy="3840480"/>
          </a:xfrm>
          <a:prstGeom prst="rect">
            <a:avLst/>
          </a:prstGeom>
          <a:noFill/>
        </p:spPr>
        <p:txBody>
          <a:bodyPr wrap="square">
            <a:spAutoFit/>
          </a:bodyPr>
          <a:lstStyle/>
          <a:p>
            <a:br/>
            <a:r>
              <a:rPr sz="2800" b="1" i="0">
                <a:solidFill>
                  <a:srgbClr val="4F8EF7"/>
                </a:solidFill>
                <a:latin typeface="Arial"/>
              </a:rPr>
              <a:t>RM 500+</a:t>
            </a:r>
          </a:p>
          <a:p>
            <a:r>
              <a:rPr sz="1600" b="1" i="0">
                <a:solidFill>
                  <a:srgbClr val="F0F2F8"/>
                </a:solidFill>
                <a:latin typeface="Arial"/>
              </a:rPr>
              <a:t>Prohibitive Legal Cost</a:t>
            </a:r>
            <a:br/>
          </a:p>
          <a:p>
            <a:r>
              <a:rPr sz="1250" b="0" i="0">
                <a:solidFill>
                  <a:srgbClr val="8B90A0"/>
                </a:solidFill>
                <a:latin typeface="Arial"/>
              </a:rPr>
              <a:t>Hiring legal counsel to review standard agreements (tenancies, NDAs, hires) costs between RM500 to RM2,500 per document, which is unaffordable for 97% of Malaysian SMEs.</a:t>
            </a:r>
          </a:p>
        </p:txBody>
      </p:sp>
      <p:sp>
        <p:nvSpPr>
          <p:cNvPr id="5" name="Rectangle 4"/>
          <p:cNvSpPr/>
          <p:nvPr/>
        </p:nvSpPr>
        <p:spPr>
          <a:xfrm>
            <a:off x="457200" y="1371600"/>
            <a:ext cx="2560320" cy="73152"/>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91840" y="1371600"/>
            <a:ext cx="2560320" cy="3840480"/>
          </a:xfrm>
          <a:prstGeom prst="rect">
            <a:avLst/>
          </a:prstGeom>
          <a:noFill/>
        </p:spPr>
        <p:txBody>
          <a:bodyPr wrap="square">
            <a:spAutoFit/>
          </a:bodyPr>
          <a:lstStyle/>
          <a:p>
            <a:br/>
            <a:r>
              <a:rPr sz="2800" b="1" i="0">
                <a:solidFill>
                  <a:srgbClr val="4F8EF7"/>
                </a:solidFill>
                <a:latin typeface="Arial"/>
              </a:rPr>
              <a:t>2022 / 2024</a:t>
            </a:r>
          </a:p>
          <a:p>
            <a:r>
              <a:rPr sz="1600" b="1" i="0">
                <a:solidFill>
                  <a:srgbClr val="F0F2F8"/>
                </a:solidFill>
                <a:latin typeface="Arial"/>
              </a:rPr>
              <a:t>Complex Regulatory Changes</a:t>
            </a:r>
            <a:br/>
          </a:p>
          <a:p>
            <a:r>
              <a:rPr sz="1250" b="0" i="0">
                <a:solidFill>
                  <a:srgbClr val="8B90A0"/>
                </a:solidFill>
                <a:latin typeface="Arial"/>
              </a:rPr>
              <a:t>Recent Employment Act amendments (leaves, working hours) and strict PDPA consent requirements make manual validation complex and high-risk for non-compliance fines.</a:t>
            </a:r>
          </a:p>
        </p:txBody>
      </p:sp>
      <p:sp>
        <p:nvSpPr>
          <p:cNvPr id="7" name="Rectangle 6"/>
          <p:cNvSpPr/>
          <p:nvPr/>
        </p:nvSpPr>
        <p:spPr>
          <a:xfrm>
            <a:off x="3291840" y="1371600"/>
            <a:ext cx="2560320" cy="73152"/>
          </a:xfrm>
          <a:prstGeom prst="rect">
            <a:avLst/>
          </a:prstGeom>
          <a:solidFill>
            <a:srgbClr val="7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0" y="1371600"/>
            <a:ext cx="2560320" cy="3840480"/>
          </a:xfrm>
          <a:prstGeom prst="rect">
            <a:avLst/>
          </a:prstGeom>
          <a:noFill/>
        </p:spPr>
        <p:txBody>
          <a:bodyPr wrap="square">
            <a:spAutoFit/>
          </a:bodyPr>
          <a:lstStyle/>
          <a:p>
            <a:br/>
            <a:r>
              <a:rPr sz="2800" b="1" i="0">
                <a:solidFill>
                  <a:srgbClr val="4F8EF7"/>
                </a:solidFill>
                <a:latin typeface="Arial"/>
              </a:rPr>
              <a:t>3 - 7 Days</a:t>
            </a:r>
          </a:p>
          <a:p>
            <a:r>
              <a:rPr sz="1600" b="1" i="0">
                <a:solidFill>
                  <a:srgbClr val="F0F2F8"/>
                </a:solidFill>
                <a:latin typeface="Arial"/>
              </a:rPr>
              <a:t>Turnaround Delay</a:t>
            </a:r>
            <a:br/>
          </a:p>
          <a:p>
            <a:r>
              <a:rPr sz="1250" b="0" i="0">
                <a:solidFill>
                  <a:srgbClr val="8B90A0"/>
                </a:solidFill>
                <a:latin typeface="Arial"/>
              </a:rPr>
              <a:t>Manual legal review takes days, causing severe bottlenecks. Fast-moving business operations are forced to choose between signing unchecked files or delaying critical deals.</a:t>
            </a:r>
          </a:p>
        </p:txBody>
      </p:sp>
      <p:sp>
        <p:nvSpPr>
          <p:cNvPr id="9" name="Rectangle 8"/>
          <p:cNvSpPr/>
          <p:nvPr/>
        </p:nvSpPr>
        <p:spPr>
          <a:xfrm>
            <a:off x="6126480" y="1371600"/>
            <a:ext cx="2560320" cy="73152"/>
          </a:xfrm>
          <a:prstGeom prst="rect">
            <a:avLst/>
          </a:prstGeom>
          <a:solidFill>
            <a:srgbClr val="4F8E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F14"/>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731520"/>
          </a:xfrm>
          <a:prstGeom prst="rect">
            <a:avLst/>
          </a:prstGeom>
          <a:noFill/>
        </p:spPr>
        <p:txBody>
          <a:bodyPr wrap="none">
            <a:spAutoFit/>
          </a:bodyPr>
          <a:lstStyle/>
          <a:p>
            <a:r>
              <a:rPr sz="2800" b="1" i="0">
                <a:solidFill>
                  <a:srgbClr val="4F8EF7"/>
                </a:solidFill>
                <a:latin typeface="Arial"/>
              </a:rPr>
              <a:t>Meet ContractSense</a:t>
            </a:r>
          </a:p>
        </p:txBody>
      </p:sp>
      <p:sp>
        <p:nvSpPr>
          <p:cNvPr id="4" name="TextBox 3"/>
          <p:cNvSpPr txBox="1"/>
          <p:nvPr/>
        </p:nvSpPr>
        <p:spPr>
          <a:xfrm>
            <a:off x="457200" y="1371600"/>
            <a:ext cx="4572000" cy="4114800"/>
          </a:xfrm>
          <a:prstGeom prst="rect">
            <a:avLst/>
          </a:prstGeom>
          <a:noFill/>
        </p:spPr>
        <p:txBody>
          <a:bodyPr wrap="square">
            <a:spAutoFit/>
          </a:bodyPr>
          <a:lstStyle/>
          <a:p>
            <a:r>
              <a:rPr sz="1800" b="1" i="0">
                <a:solidFill>
                  <a:srgbClr val="7B5FFF"/>
                </a:solidFill>
                <a:latin typeface="Arial"/>
              </a:rPr>
              <a:t>Double-Layer Intelligent Screening</a:t>
            </a:r>
          </a:p>
          <a:p>
            <a:br/>
            <a:r>
              <a:rPr sz="1350" b="1" i="0">
                <a:solidFill>
                  <a:srgbClr val="F0F2F8"/>
                </a:solidFill>
                <a:latin typeface="Arial"/>
              </a:rPr>
              <a:t>•  Deterministic Rule Scanner:</a:t>
            </a:r>
          </a:p>
          <a:p>
            <a:r>
              <a:rPr sz="1200" b="0" i="0">
                <a:solidFill>
                  <a:srgbClr val="8B90A0"/>
                </a:solidFill>
                <a:latin typeface="Arial"/>
              </a:rPr>
              <a:t>   Regex-based matching evaluates key contract vulnerabilities (Auto-renewal clauses, hidden fee structures, and unilateral terms) instantly.</a:t>
            </a:r>
          </a:p>
          <a:p>
            <a:br/>
            <a:r>
              <a:rPr sz="1350" b="1" i="0">
                <a:solidFill>
                  <a:srgbClr val="F0F2F8"/>
                </a:solidFill>
                <a:latin typeface="Arial"/>
              </a:rPr>
              <a:t>•  Contextual AI Reviewer:</a:t>
            </a:r>
          </a:p>
          <a:p>
            <a:r>
              <a:rPr sz="1200" b="0" i="0">
                <a:solidFill>
                  <a:srgbClr val="8B90A0"/>
                </a:solidFill>
                <a:latin typeface="Arial"/>
              </a:rPr>
              <a:t>   Async LLM logic verifies semantic alignment against local statutes (Employment Act 1955, PDPA 2010) and uploaded company compliance handbooks.</a:t>
            </a:r>
          </a:p>
          <a:p>
            <a:br/>
            <a:r>
              <a:rPr sz="1350" b="1" i="0">
                <a:solidFill>
                  <a:srgbClr val="F0F2F8"/>
                </a:solidFill>
                <a:latin typeface="Arial"/>
              </a:rPr>
              <a:t>•  Inline Remediation Suggestions:</a:t>
            </a:r>
          </a:p>
          <a:p>
            <a:r>
              <a:rPr sz="1200" b="0" i="0">
                <a:solidFill>
                  <a:srgbClr val="8B90A0"/>
                </a:solidFill>
                <a:latin typeface="Arial"/>
              </a:rPr>
              <a:t>   Provides redline replacements with explanation headers ready to copy-paste.</a:t>
            </a:r>
          </a:p>
        </p:txBody>
      </p:sp>
      <p:sp>
        <p:nvSpPr>
          <p:cNvPr id="5" name="TextBox 4"/>
          <p:cNvSpPr txBox="1"/>
          <p:nvPr/>
        </p:nvSpPr>
        <p:spPr>
          <a:xfrm>
            <a:off x="5303520" y="1371600"/>
            <a:ext cx="3383280" cy="3840480"/>
          </a:xfrm>
          <a:prstGeom prst="rect">
            <a:avLst/>
          </a:prstGeom>
          <a:noFill/>
        </p:spPr>
        <p:txBody>
          <a:bodyPr wrap="square">
            <a:spAutoFit/>
          </a:bodyPr>
          <a:lstStyle/>
          <a:p>
            <a:r>
              <a:rPr sz="1600" b="1" i="0">
                <a:solidFill>
                  <a:srgbClr val="F0F2F8"/>
                </a:solidFill>
                <a:latin typeface="Arial"/>
              </a:rPr>
              <a:t>Interactive UI Experience</a:t>
            </a:r>
          </a:p>
          <a:p>
            <a:br/>
            <a:r>
              <a:rPr sz="1100" b="0" i="0">
                <a:solidFill>
                  <a:srgbClr val="8B90A0"/>
                </a:solidFill>
                <a:latin typeface="Consolas"/>
              </a:rPr>
              <a:t>[Contract Panel]</a:t>
            </a:r>
            <a:br/>
            <a:r>
              <a:t>9.2 The Company reserves the right to modify employee benefits at any time...</a:t>
            </a:r>
            <a:br/>
            <a:br/>
            <a:r>
              <a:t>[Compliance Report]</a:t>
            </a:r>
            <a:br/>
            <a:r>
              <a:t>✕ Unilateral Change Risk</a:t>
            </a:r>
            <a:br/>
            <a:r>
              <a:t>Allows employer to alter terms without employee consent. Non-compliant with Employment Act 1955 principles.</a:t>
            </a:r>
            <a:br/>
            <a:br/>
            <a:r>
              <a:t>💡 Suggested edit:</a:t>
            </a:r>
            <a:br/>
            <a:r>
              <a:t>"Any changes to employee benefits shall require written consent from both parties..."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F14"/>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731520"/>
          </a:xfrm>
          <a:prstGeom prst="rect">
            <a:avLst/>
          </a:prstGeom>
          <a:noFill/>
        </p:spPr>
        <p:txBody>
          <a:bodyPr wrap="none">
            <a:spAutoFit/>
          </a:bodyPr>
          <a:lstStyle/>
          <a:p>
            <a:r>
              <a:rPr sz="2800" b="1" i="0">
                <a:solidFill>
                  <a:srgbClr val="4F8EF7"/>
                </a:solidFill>
                <a:latin typeface="Arial"/>
              </a:rPr>
              <a:t>Tailored for Key Stakeholders</a:t>
            </a:r>
          </a:p>
        </p:txBody>
      </p:sp>
      <p:sp>
        <p:nvSpPr>
          <p:cNvPr id="4" name="TextBox 3"/>
          <p:cNvSpPr txBox="1"/>
          <p:nvPr/>
        </p:nvSpPr>
        <p:spPr>
          <a:xfrm>
            <a:off x="457200" y="1371600"/>
            <a:ext cx="2560320" cy="3840480"/>
          </a:xfrm>
          <a:prstGeom prst="rect">
            <a:avLst/>
          </a:prstGeom>
          <a:noFill/>
        </p:spPr>
        <p:txBody>
          <a:bodyPr wrap="square">
            <a:spAutoFit/>
          </a:bodyPr>
          <a:lstStyle/>
          <a:p>
            <a:r>
              <a:rPr sz="1800" b="1" i="0">
                <a:solidFill>
                  <a:srgbClr val="4F8EF7"/>
                </a:solidFill>
                <a:latin typeface="Arial"/>
              </a:rPr>
              <a:t>HR Managers</a:t>
            </a:r>
            <a:br/>
          </a:p>
          <a:p>
            <a:r>
              <a:rPr sz="1300" b="1" i="0">
                <a:solidFill>
                  <a:srgbClr val="F0F2F8"/>
                </a:solidFill>
                <a:latin typeface="Arial"/>
              </a:rPr>
              <a:t>Use Case:</a:t>
            </a:r>
            <a:br/>
            <a:r>
              <a:t>Batch screening employment offer letters and contractor agreements.</a:t>
            </a:r>
            <a:br/>
          </a:p>
          <a:p>
            <a:r>
              <a:rPr sz="1250" b="0" i="0">
                <a:solidFill>
                  <a:srgbClr val="8B90A0"/>
                </a:solidFill>
                <a:latin typeface="Arial"/>
              </a:rPr>
              <a:t>Value:</a:t>
            </a:r>
            <a:br/>
            <a:r>
              <a:t>Guarantees leaves, overtime, and probation terms match the revised Employment Act 1955.</a:t>
            </a:r>
          </a:p>
        </p:txBody>
      </p:sp>
      <p:sp>
        <p:nvSpPr>
          <p:cNvPr id="5" name="TextBox 4"/>
          <p:cNvSpPr txBox="1"/>
          <p:nvPr/>
        </p:nvSpPr>
        <p:spPr>
          <a:xfrm>
            <a:off x="3291840" y="1371600"/>
            <a:ext cx="2560320" cy="3840480"/>
          </a:xfrm>
          <a:prstGeom prst="rect">
            <a:avLst/>
          </a:prstGeom>
          <a:noFill/>
        </p:spPr>
        <p:txBody>
          <a:bodyPr wrap="square">
            <a:spAutoFit/>
          </a:bodyPr>
          <a:lstStyle/>
          <a:p>
            <a:r>
              <a:rPr sz="1800" b="1" i="0">
                <a:solidFill>
                  <a:srgbClr val="4F8EF7"/>
                </a:solidFill>
                <a:latin typeface="Arial"/>
              </a:rPr>
              <a:t>SME Business Owners</a:t>
            </a:r>
            <a:br/>
          </a:p>
          <a:p>
            <a:r>
              <a:rPr sz="1300" b="1" i="0">
                <a:solidFill>
                  <a:srgbClr val="F0F2F8"/>
                </a:solidFill>
                <a:latin typeface="Arial"/>
              </a:rPr>
              <a:t>Use Case:</a:t>
            </a:r>
            <a:br/>
            <a:r>
              <a:t>Reviewing supplier terms, incoming client NDAs, and office leases.</a:t>
            </a:r>
            <a:br/>
          </a:p>
          <a:p>
            <a:r>
              <a:rPr sz="1250" b="0" i="0">
                <a:solidFill>
                  <a:srgbClr val="8B90A0"/>
                </a:solidFill>
                <a:latin typeface="Arial"/>
              </a:rPr>
              <a:t>Value:</a:t>
            </a:r>
            <a:br/>
            <a:r>
              <a:t>Flags hidden fees, auto-renewal traps, and extreme liability caps before signing.</a:t>
            </a:r>
          </a:p>
        </p:txBody>
      </p:sp>
      <p:sp>
        <p:nvSpPr>
          <p:cNvPr id="6" name="TextBox 5"/>
          <p:cNvSpPr txBox="1"/>
          <p:nvPr/>
        </p:nvSpPr>
        <p:spPr>
          <a:xfrm>
            <a:off x="6126480" y="1371600"/>
            <a:ext cx="2560320" cy="3840480"/>
          </a:xfrm>
          <a:prstGeom prst="rect">
            <a:avLst/>
          </a:prstGeom>
          <a:noFill/>
        </p:spPr>
        <p:txBody>
          <a:bodyPr wrap="square">
            <a:spAutoFit/>
          </a:bodyPr>
          <a:lstStyle/>
          <a:p>
            <a:r>
              <a:rPr sz="1800" b="1" i="0">
                <a:solidFill>
                  <a:srgbClr val="4F8EF7"/>
                </a:solidFill>
                <a:latin typeface="Arial"/>
              </a:rPr>
              <a:t>In-House Legal / Ops</a:t>
            </a:r>
            <a:br/>
          </a:p>
          <a:p>
            <a:r>
              <a:rPr sz="1300" b="1" i="0">
                <a:solidFill>
                  <a:srgbClr val="F0F2F8"/>
                </a:solidFill>
                <a:latin typeface="Arial"/>
              </a:rPr>
              <a:t>Use Case:</a:t>
            </a:r>
            <a:br/>
            <a:r>
              <a:t>Vetting standard templates and vendor modifications against governance guidelines.</a:t>
            </a:r>
            <a:br/>
          </a:p>
          <a:p>
            <a:r>
              <a:rPr sz="1250" b="0" i="0">
                <a:solidFill>
                  <a:srgbClr val="8B90A0"/>
                </a:solidFill>
                <a:latin typeface="Arial"/>
              </a:rPr>
              <a:t>Value:</a:t>
            </a:r>
            <a:br/>
            <a:r>
              <a:t>Streamlines the initial review pipeline, reducing turnaround times from hours to seconds.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F14"/>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731520"/>
          </a:xfrm>
          <a:prstGeom prst="rect">
            <a:avLst/>
          </a:prstGeom>
          <a:noFill/>
        </p:spPr>
        <p:txBody>
          <a:bodyPr wrap="none">
            <a:spAutoFit/>
          </a:bodyPr>
          <a:lstStyle/>
          <a:p>
            <a:r>
              <a:rPr sz="2800" b="1" i="0">
                <a:solidFill>
                  <a:srgbClr val="4F8EF7"/>
                </a:solidFill>
                <a:latin typeface="Arial"/>
              </a:rPr>
              <a:t>Robust &amp; Secure Hybrid Architecture</a:t>
            </a:r>
          </a:p>
        </p:txBody>
      </p:sp>
      <p:sp>
        <p:nvSpPr>
          <p:cNvPr id="4" name="TextBox 3"/>
          <p:cNvSpPr txBox="1"/>
          <p:nvPr/>
        </p:nvSpPr>
        <p:spPr>
          <a:xfrm>
            <a:off x="457200" y="1371600"/>
            <a:ext cx="8229600" cy="2011680"/>
          </a:xfrm>
          <a:prstGeom prst="rect">
            <a:avLst/>
          </a:prstGeom>
          <a:noFill/>
        </p:spPr>
        <p:txBody>
          <a:bodyPr wrap="square">
            <a:spAutoFit/>
          </a:bodyPr>
          <a:lstStyle/>
          <a:p>
            <a:r>
              <a:rPr sz="1300" b="1" i="0">
                <a:solidFill>
                  <a:srgbClr val="7B5FFF"/>
                </a:solidFill>
                <a:latin typeface="Arial"/>
              </a:rPr>
              <a:t>DATA FLOW PIPELINE</a:t>
            </a:r>
          </a:p>
          <a:p>
            <a:r>
              <a:rPr sz="1250" b="1" i="0">
                <a:solidFill>
                  <a:srgbClr val="F0F2F8"/>
                </a:solidFill>
                <a:latin typeface="Arial"/>
              </a:rPr>
              <a:t>•  1. Client Web App   --&gt;   Single Page Application (HTML/CSS/JS) uploads contract stream dynamically.</a:t>
            </a:r>
          </a:p>
          <a:p>
            <a:r>
              <a:rPr sz="1250" b="1" i="0">
                <a:solidFill>
                  <a:srgbClr val="F0F2F8"/>
                </a:solidFill>
                <a:latin typeface="Arial"/>
              </a:rPr>
              <a:t>•  2. FastAPI Gateway   --&gt;   Handles endpoints asynchronously, triggers text extractors and security gates.</a:t>
            </a:r>
          </a:p>
          <a:p>
            <a:r>
              <a:rPr sz="1250" b="1" i="0">
                <a:solidFill>
                  <a:srgbClr val="F0F2F8"/>
                </a:solidFill>
                <a:latin typeface="Arial"/>
              </a:rPr>
              <a:t>•  3. Hybrid Analysis Engine   --&gt;   Local regex parser checks flags; OpenAI/Gemini orchestrator performs context reviews.</a:t>
            </a:r>
          </a:p>
          <a:p>
            <a:r>
              <a:rPr sz="1250" b="1" i="0">
                <a:solidFill>
                  <a:srgbClr val="F0F2F8"/>
                </a:solidFill>
                <a:latin typeface="Arial"/>
              </a:rPr>
              <a:t>•  4. Knowledge Reference   --&gt;   Cross-checks content against local laws (Employment Act, PDPA) &amp; uploaded policies.</a:t>
            </a:r>
          </a:p>
        </p:txBody>
      </p:sp>
      <p:sp>
        <p:nvSpPr>
          <p:cNvPr id="5" name="TextBox 4"/>
          <p:cNvSpPr txBox="1"/>
          <p:nvPr/>
        </p:nvSpPr>
        <p:spPr>
          <a:xfrm>
            <a:off x="457200" y="3657600"/>
            <a:ext cx="8229600" cy="1645920"/>
          </a:xfrm>
          <a:prstGeom prst="rect">
            <a:avLst/>
          </a:prstGeom>
          <a:noFill/>
        </p:spPr>
        <p:txBody>
          <a:bodyPr wrap="square">
            <a:spAutoFit/>
          </a:bodyPr>
          <a:lstStyle/>
          <a:p>
            <a:r>
              <a:rPr sz="1500" b="1" i="0">
                <a:solidFill>
                  <a:srgbClr val="4F8EF7"/>
                </a:solidFill>
                <a:latin typeface="Arial"/>
              </a:rPr>
              <a:t>🛡️ Data Isolation &amp; Privacy Safeguards</a:t>
            </a:r>
          </a:p>
          <a:p>
            <a:r>
              <a:rPr sz="1200" b="0" i="0">
                <a:solidFill>
                  <a:srgbClr val="8B90A0"/>
                </a:solidFill>
                <a:latin typeface="Arial"/>
              </a:rPr>
              <a:t>All file parsing routines process contract streams in memory. The application does not store document binaries in public directories, nor are uploaded contracts used to train public LLM structures, ensuring absolute commercial confidentiality.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F14"/>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731520"/>
          </a:xfrm>
          <a:prstGeom prst="rect">
            <a:avLst/>
          </a:prstGeom>
          <a:noFill/>
        </p:spPr>
        <p:txBody>
          <a:bodyPr wrap="none">
            <a:spAutoFit/>
          </a:bodyPr>
          <a:lstStyle/>
          <a:p>
            <a:r>
              <a:rPr sz="2800" b="1" i="0">
                <a:solidFill>
                  <a:srgbClr val="4F8EF7"/>
                </a:solidFill>
                <a:latin typeface="Arial"/>
              </a:rPr>
              <a:t>Scalable SaaS Packages</a:t>
            </a:r>
          </a:p>
        </p:txBody>
      </p:sp>
      <p:sp>
        <p:nvSpPr>
          <p:cNvPr id="4" name="TextBox 3"/>
          <p:cNvSpPr txBox="1"/>
          <p:nvPr/>
        </p:nvSpPr>
        <p:spPr>
          <a:xfrm>
            <a:off x="457200" y="1371600"/>
            <a:ext cx="2560320" cy="3840480"/>
          </a:xfrm>
          <a:prstGeom prst="rect">
            <a:avLst/>
          </a:prstGeom>
          <a:noFill/>
        </p:spPr>
        <p:txBody>
          <a:bodyPr wrap="square">
            <a:spAutoFit/>
          </a:bodyPr>
          <a:lstStyle/>
          <a:p>
            <a:br/>
            <a:r>
              <a:rPr sz="1600" b="1" i="0">
                <a:solidFill>
                  <a:srgbClr val="F0F2F8"/>
                </a:solidFill>
                <a:latin typeface="Arial"/>
              </a:rPr>
              <a:t>Starter (Dev)</a:t>
            </a:r>
          </a:p>
          <a:p>
            <a:r>
              <a:rPr sz="2200" b="1" i="0">
                <a:solidFill>
                  <a:srgbClr val="4F8EF7"/>
                </a:solidFill>
                <a:latin typeface="Arial"/>
              </a:rPr>
              <a:t>RM 0</a:t>
            </a:r>
            <a:br/>
          </a:p>
          <a:p>
            <a:r>
              <a:rPr sz="1150" b="0" i="0">
                <a:solidFill>
                  <a:srgbClr val="8B90A0"/>
                </a:solidFill>
                <a:latin typeface="Arial"/>
              </a:rPr>
              <a:t>• Up to 3 contract scans/month</a:t>
            </a:r>
          </a:p>
          <a:p>
            <a:r>
              <a:rPr sz="1150" b="0" i="0">
                <a:solidFill>
                  <a:srgbClr val="8B90A0"/>
                </a:solidFill>
                <a:latin typeface="Arial"/>
              </a:rPr>
              <a:t>• Standard Malaysian Laws auditing</a:t>
            </a:r>
          </a:p>
          <a:p>
            <a:r>
              <a:rPr sz="1150" b="0" i="0">
                <a:solidFill>
                  <a:srgbClr val="8B90A0"/>
                </a:solidFill>
                <a:latin typeface="Arial"/>
              </a:rPr>
              <a:t>• Basic inline audit summaries</a:t>
            </a:r>
          </a:p>
        </p:txBody>
      </p:sp>
      <p:sp>
        <p:nvSpPr>
          <p:cNvPr id="5" name="Rectangle 4"/>
          <p:cNvSpPr/>
          <p:nvPr/>
        </p:nvSpPr>
        <p:spPr>
          <a:xfrm>
            <a:off x="457200" y="1371600"/>
            <a:ext cx="2560320" cy="73152"/>
          </a:xfrm>
          <a:prstGeom prst="rect">
            <a:avLst/>
          </a:prstGeom>
          <a:solidFill>
            <a:srgbClr val="4F8E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91840" y="1371600"/>
            <a:ext cx="2560320" cy="3840480"/>
          </a:xfrm>
          <a:prstGeom prst="rect">
            <a:avLst/>
          </a:prstGeom>
          <a:noFill/>
        </p:spPr>
        <p:txBody>
          <a:bodyPr wrap="square">
            <a:spAutoFit/>
          </a:bodyPr>
          <a:lstStyle/>
          <a:p>
            <a:br/>
            <a:r>
              <a:rPr sz="1600" b="1" i="0">
                <a:solidFill>
                  <a:srgbClr val="F0F2F8"/>
                </a:solidFill>
                <a:latin typeface="Arial"/>
              </a:rPr>
              <a:t>Professional</a:t>
            </a:r>
          </a:p>
          <a:p>
            <a:r>
              <a:rPr sz="2200" b="1" i="0">
                <a:solidFill>
                  <a:srgbClr val="4F8EF7"/>
                </a:solidFill>
                <a:latin typeface="Arial"/>
              </a:rPr>
              <a:t>RM 149 / mo</a:t>
            </a:r>
            <a:br/>
          </a:p>
          <a:p>
            <a:r>
              <a:rPr sz="1150" b="0" i="0">
                <a:solidFill>
                  <a:srgbClr val="8B90A0"/>
                </a:solidFill>
                <a:latin typeface="Arial"/>
              </a:rPr>
              <a:t>• Unlimited contract scans</a:t>
            </a:r>
          </a:p>
          <a:p>
            <a:r>
              <a:rPr sz="1150" b="0" i="0">
                <a:solidFill>
                  <a:srgbClr val="8B90A0"/>
                </a:solidFill>
                <a:latin typeface="Arial"/>
              </a:rPr>
              <a:t>• Upload custom company policies</a:t>
            </a:r>
          </a:p>
          <a:p>
            <a:r>
              <a:rPr sz="1150" b="0" i="0">
                <a:solidFill>
                  <a:srgbClr val="8B90A0"/>
                </a:solidFill>
                <a:latin typeface="Arial"/>
              </a:rPr>
              <a:t>• Side-by-side redlines &amp; copy-paste</a:t>
            </a:r>
          </a:p>
          <a:p>
            <a:r>
              <a:rPr sz="1150" b="0" i="0">
                <a:solidFill>
                  <a:srgbClr val="8B90A0"/>
                </a:solidFill>
                <a:latin typeface="Arial"/>
              </a:rPr>
              <a:t>• History log &amp; PDF report exports</a:t>
            </a:r>
          </a:p>
        </p:txBody>
      </p:sp>
      <p:sp>
        <p:nvSpPr>
          <p:cNvPr id="7" name="Rectangle 6"/>
          <p:cNvSpPr/>
          <p:nvPr/>
        </p:nvSpPr>
        <p:spPr>
          <a:xfrm>
            <a:off x="3291840" y="1371600"/>
            <a:ext cx="2560320" cy="73152"/>
          </a:xfrm>
          <a:prstGeom prst="rect">
            <a:avLst/>
          </a:prstGeom>
          <a:solidFill>
            <a:srgbClr val="7B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0" y="1371600"/>
            <a:ext cx="2560320" cy="3840480"/>
          </a:xfrm>
          <a:prstGeom prst="rect">
            <a:avLst/>
          </a:prstGeom>
          <a:noFill/>
        </p:spPr>
        <p:txBody>
          <a:bodyPr wrap="square">
            <a:spAutoFit/>
          </a:bodyPr>
          <a:lstStyle/>
          <a:p>
            <a:br/>
            <a:r>
              <a:rPr sz="1600" b="1" i="0">
                <a:solidFill>
                  <a:srgbClr val="F0F2F8"/>
                </a:solidFill>
                <a:latin typeface="Arial"/>
              </a:rPr>
              <a:t>Enterprise</a:t>
            </a:r>
          </a:p>
          <a:p>
            <a:r>
              <a:rPr sz="2200" b="1" i="0">
                <a:solidFill>
                  <a:srgbClr val="4F8EF7"/>
                </a:solidFill>
                <a:latin typeface="Arial"/>
              </a:rPr>
              <a:t>RM 499 / mo</a:t>
            </a:r>
            <a:br/>
          </a:p>
          <a:p>
            <a:r>
              <a:rPr sz="1150" b="0" i="0">
                <a:solidFill>
                  <a:srgbClr val="8B90A0"/>
                </a:solidFill>
                <a:latin typeface="Arial"/>
              </a:rPr>
              <a:t>• Dedicated multi-user dashboard</a:t>
            </a:r>
          </a:p>
          <a:p>
            <a:r>
              <a:rPr sz="1150" b="0" i="0">
                <a:solidFill>
                  <a:srgbClr val="8B90A0"/>
                </a:solidFill>
                <a:latin typeface="Arial"/>
              </a:rPr>
              <a:t>• API key integrations for CRMs</a:t>
            </a:r>
          </a:p>
          <a:p>
            <a:r>
              <a:rPr sz="1150" b="0" i="0">
                <a:solidFill>
                  <a:srgbClr val="8B90A0"/>
                </a:solidFill>
                <a:latin typeface="Arial"/>
              </a:rPr>
              <a:t>• Upload custom law databases</a:t>
            </a:r>
          </a:p>
          <a:p>
            <a:r>
              <a:rPr sz="1150" b="0" i="0">
                <a:solidFill>
                  <a:srgbClr val="8B90A0"/>
                </a:solidFill>
                <a:latin typeface="Arial"/>
              </a:rPr>
              <a:t>• Primary priority support queue</a:t>
            </a:r>
          </a:p>
        </p:txBody>
      </p:sp>
      <p:sp>
        <p:nvSpPr>
          <p:cNvPr id="9" name="Rectangle 8"/>
          <p:cNvSpPr/>
          <p:nvPr/>
        </p:nvSpPr>
        <p:spPr>
          <a:xfrm>
            <a:off x="6126480" y="1371600"/>
            <a:ext cx="2560320" cy="73152"/>
          </a:xfrm>
          <a:prstGeom prst="rect">
            <a:avLst/>
          </a:prstGeom>
          <a:solidFill>
            <a:srgbClr val="4F8E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F14"/>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731520"/>
          </a:xfrm>
          <a:prstGeom prst="rect">
            <a:avLst/>
          </a:prstGeom>
          <a:noFill/>
        </p:spPr>
        <p:txBody>
          <a:bodyPr wrap="none">
            <a:spAutoFit/>
          </a:bodyPr>
          <a:lstStyle/>
          <a:p>
            <a:r>
              <a:rPr sz="2800" b="1" i="0">
                <a:solidFill>
                  <a:srgbClr val="4F8EF7"/>
                </a:solidFill>
                <a:latin typeface="Arial"/>
              </a:rPr>
              <a:t>Go-To-Market &amp; Growth Strategy</a:t>
            </a:r>
          </a:p>
        </p:txBody>
      </p:sp>
      <p:sp>
        <p:nvSpPr>
          <p:cNvPr id="4" name="TextBox 3"/>
          <p:cNvSpPr txBox="1"/>
          <p:nvPr/>
        </p:nvSpPr>
        <p:spPr>
          <a:xfrm>
            <a:off x="457200" y="1371600"/>
            <a:ext cx="2560320" cy="3840480"/>
          </a:xfrm>
          <a:prstGeom prst="rect">
            <a:avLst/>
          </a:prstGeom>
          <a:noFill/>
        </p:spPr>
        <p:txBody>
          <a:bodyPr wrap="square">
            <a:spAutoFit/>
          </a:bodyPr>
          <a:lstStyle/>
          <a:p>
            <a:r>
              <a:rPr sz="1600" b="1" i="0">
                <a:solidFill>
                  <a:srgbClr val="4F8EF7"/>
                </a:solidFill>
                <a:latin typeface="Arial"/>
              </a:rPr>
              <a:t>🤝 SME Associations</a:t>
            </a:r>
            <a:br/>
          </a:p>
          <a:p>
            <a:r>
              <a:rPr sz="1250" b="0" i="0">
                <a:solidFill>
                  <a:srgbClr val="8B90A0"/>
                </a:solidFill>
                <a:latin typeface="Arial"/>
              </a:rPr>
              <a:t>Establish direct channel marketing alliances with local organizations (SAMENTA) and MDEC to deliver regulatory compliance workshops and software onboarding.</a:t>
            </a:r>
          </a:p>
        </p:txBody>
      </p:sp>
      <p:sp>
        <p:nvSpPr>
          <p:cNvPr id="5" name="TextBox 4"/>
          <p:cNvSpPr txBox="1"/>
          <p:nvPr/>
        </p:nvSpPr>
        <p:spPr>
          <a:xfrm>
            <a:off x="3291840" y="1371600"/>
            <a:ext cx="2560320" cy="3840480"/>
          </a:xfrm>
          <a:prstGeom prst="rect">
            <a:avLst/>
          </a:prstGeom>
          <a:noFill/>
        </p:spPr>
        <p:txBody>
          <a:bodyPr wrap="square">
            <a:spAutoFit/>
          </a:bodyPr>
          <a:lstStyle/>
          <a:p>
            <a:r>
              <a:rPr sz="1600" b="1" i="0">
                <a:solidFill>
                  <a:srgbClr val="4F8EF7"/>
                </a:solidFill>
                <a:latin typeface="Arial"/>
              </a:rPr>
              <a:t>⚡ Product-Led Growth</a:t>
            </a:r>
            <a:br/>
          </a:p>
          <a:p>
            <a:r>
              <a:rPr sz="1250" b="0" i="0">
                <a:solidFill>
                  <a:srgbClr val="8B90A0"/>
                </a:solidFill>
                <a:latin typeface="Arial"/>
              </a:rPr>
              <a:t>Provide a friction-free 'Quick Scan' tool on the homepage, allowing users to check short contracts instantly without signup, driving upgrade conversions.</a:t>
            </a:r>
          </a:p>
        </p:txBody>
      </p:sp>
      <p:sp>
        <p:nvSpPr>
          <p:cNvPr id="6" name="TextBox 5"/>
          <p:cNvSpPr txBox="1"/>
          <p:nvPr/>
        </p:nvSpPr>
        <p:spPr>
          <a:xfrm>
            <a:off x="6126480" y="1371600"/>
            <a:ext cx="2560320" cy="3840480"/>
          </a:xfrm>
          <a:prstGeom prst="rect">
            <a:avLst/>
          </a:prstGeom>
          <a:noFill/>
        </p:spPr>
        <p:txBody>
          <a:bodyPr wrap="square">
            <a:spAutoFit/>
          </a:bodyPr>
          <a:lstStyle/>
          <a:p>
            <a:r>
              <a:rPr sz="1600" b="1" i="0">
                <a:solidFill>
                  <a:srgbClr val="4F8EF7"/>
                </a:solidFill>
                <a:latin typeface="Arial"/>
              </a:rPr>
              <a:t>📄 Template Library</a:t>
            </a:r>
            <a:br/>
          </a:p>
          <a:p>
            <a:r>
              <a:rPr sz="1250" b="0" i="0">
                <a:solidFill>
                  <a:srgbClr val="8B90A0"/>
                </a:solidFill>
                <a:latin typeface="Arial"/>
              </a:rPr>
              <a:t>Host legally vetted agreements (NDAs, HR letters) on the website. Direct modification alerts on templates redirect users back to the scanner to check edits.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0F14"/>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731520"/>
          </a:xfrm>
          <a:prstGeom prst="rect">
            <a:avLst/>
          </a:prstGeom>
          <a:noFill/>
        </p:spPr>
        <p:txBody>
          <a:bodyPr wrap="none">
            <a:spAutoFit/>
          </a:bodyPr>
          <a:lstStyle/>
          <a:p>
            <a:r>
              <a:rPr sz="2800" b="1" i="0">
                <a:solidFill>
                  <a:srgbClr val="4F8EF7"/>
                </a:solidFill>
                <a:latin typeface="Arial"/>
              </a:rPr>
              <a:t>Product Roadmap &amp; Security Safeguards</a:t>
            </a:r>
          </a:p>
        </p:txBody>
      </p:sp>
      <p:sp>
        <p:nvSpPr>
          <p:cNvPr id="4" name="TextBox 3"/>
          <p:cNvSpPr txBox="1"/>
          <p:nvPr/>
        </p:nvSpPr>
        <p:spPr>
          <a:xfrm>
            <a:off x="457200" y="1188720"/>
            <a:ext cx="8229600" cy="2011680"/>
          </a:xfrm>
          <a:prstGeom prst="rect">
            <a:avLst/>
          </a:prstGeom>
          <a:noFill/>
        </p:spPr>
        <p:txBody>
          <a:bodyPr wrap="square">
            <a:spAutoFit/>
          </a:bodyPr>
          <a:lstStyle/>
          <a:p>
            <a:r>
              <a:rPr sz="1200" b="0" i="0">
                <a:solidFill>
                  <a:srgbClr val="8B90A0"/>
                </a:solidFill>
                <a:latin typeface="Arial"/>
              </a:rPr>
              <a:t>• Q3 2026: Bilingual &amp; OCR: Optical Character Recognition (OCR) for scanned PDFs and Bilingual auditing support (English and Bahasa Melayu).</a:t>
            </a:r>
          </a:p>
          <a:p>
            <a:r>
              <a:rPr sz="1200" b="0" i="0">
                <a:solidFill>
                  <a:srgbClr val="8B90A0"/>
                </a:solidFill>
                <a:latin typeface="Arial"/>
              </a:rPr>
              <a:t>• Q4 2026: E-Sign &amp; Integration: Integrate e-signature engines (DocuSign API) to review and sign compliance-vetted documents in a single workflow.</a:t>
            </a:r>
          </a:p>
          <a:p>
            <a:r>
              <a:rPr sz="1200" b="0" i="0">
                <a:solidFill>
                  <a:srgbClr val="8B90A0"/>
                </a:solidFill>
                <a:latin typeface="Arial"/>
              </a:rPr>
              <a:t>• Q1 2027: Local Legal LLM: Deploy specialized open-source legal LLMs locally, reducing dependency on commercial APIs and keeping latency low.</a:t>
            </a:r>
          </a:p>
        </p:txBody>
      </p:sp>
      <p:sp>
        <p:nvSpPr>
          <p:cNvPr id="5" name="TextBox 4"/>
          <p:cNvSpPr txBox="1"/>
          <p:nvPr/>
        </p:nvSpPr>
        <p:spPr>
          <a:xfrm>
            <a:off x="457200" y="3383280"/>
            <a:ext cx="8229600" cy="2011680"/>
          </a:xfrm>
          <a:prstGeom prst="rect">
            <a:avLst/>
          </a:prstGeom>
          <a:noFill/>
        </p:spPr>
        <p:txBody>
          <a:bodyPr wrap="square">
            <a:spAutoFit/>
          </a:bodyPr>
          <a:lstStyle/>
          <a:p>
            <a:r>
              <a:rPr sz="1400" b="1" i="0">
                <a:solidFill>
                  <a:srgbClr val="E84040"/>
                </a:solidFill>
                <a:latin typeface="Arial"/>
              </a:rPr>
              <a:t>🔒 Security Ingestion Upgrade (Addressing Email Scanning Scope)</a:t>
            </a:r>
          </a:p>
          <a:p>
            <a:r>
              <a:rPr sz="1150" b="0" i="0">
                <a:solidFill>
                  <a:srgbClr val="8B90A0"/>
                </a:solidFill>
                <a:latin typeface="Arial"/>
              </a:rPr>
              <a:t>To eliminate raw email parsing overheads and guarantee user privacy: we plan to transition from IMAP credentials to scoped OAuth 2.0 webhooks (Gmail / Outlook APIs). This limits the AI scanner to monitor only designated contract folders (e.g. 'contracts/') or messages sent to contracts@company.com, rather than accessing the user's primary inbox stream.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